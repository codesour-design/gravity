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embeddedFontLst>
    <p:embeddedFont>
      <p:font typeface="Oswald"/>
      <p:regular r:id="rId9001"/>
      <p:bold r:id="rId9002"/>
    </p:embeddedFont>
    <p:embeddedFont>
      <p:font typeface="Inter"/>
      <p:regular r:id="rId9003"/>
      <p:bold r:id="rId900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-1005840"/>
            <a:ext cx="5559552" cy="8778240"/>
          </a:xfrm>
          <a:prstGeom prst="rect">
            <a:avLst/>
          </a:prstGeom>
        </p:spPr>
      </p:pic>
      <p:pic>
        <p:nvPicPr>
          <p:cNvPr id="4" name="Picture 3" descr="ty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31520"/>
            <a:ext cx="1554480" cy="5225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GRAVITY · 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8595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1" i="0">
                <a:solidFill>
                  <a:srgbClr val="FFFFFF"/>
                </a:solidFill>
                <a:latin typeface="Oswald"/>
              </a:rPr>
              <a:t>Sistema 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DAD3FF"/>
                </a:solidFill>
                <a:latin typeface="Inter"/>
              </a:rPr>
              <a:t>Libreria delle icone mappa per spazi pubblicitari OOH &amp; DOOH.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Oswald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961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6BFF2"/>
                </a:solidFill>
                <a:latin typeface="Inter"/>
              </a:rPr>
              <a:t>Tipologie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8920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Oswald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55961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6BFF2"/>
                </a:solidFill>
                <a:latin typeface="Inter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8920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55961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6BFF2"/>
                </a:solidFill>
                <a:latin typeface="Inter"/>
              </a:rPr>
              <a:t>Categorie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9204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Oswald"/>
              </a:rPr>
              <a:t>133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59612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6BFF2"/>
                </a:solidFill>
                <a:latin typeface="Inter"/>
              </a:rPr>
              <a:t>Marker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Cos'è il sistema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I marker sono le icone che rappresentano gli spazi pubblicitari sulla mappa Gravity. Ogni marker codifica tre informazioni: la tipologia (forma), lo status operativo (colore) e la categoria OOH o DOOH (struttura).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23614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3E00FB"/>
                </a:solidFill>
                <a:latin typeface="Oswald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95928"/>
            <a:ext cx="22242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16"/>
                </a:solidFill>
                <a:latin typeface="Inter"/>
              </a:rPr>
              <a:t>tipologie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222427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72"/>
                </a:solidFill>
                <a:latin typeface="Inter"/>
              </a:rPr>
              <a:t>Tipi di impianto, da Cartello a Billboard, ciascuno con un'icona dedicata.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8718" y="2971800"/>
            <a:ext cx="23614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4A1C"/>
                </a:solidFill>
                <a:latin typeface="Oswald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8718" y="3995928"/>
            <a:ext cx="22242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16"/>
                </a:solidFill>
                <a:latin typeface="Inter"/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8718" y="4434840"/>
            <a:ext cx="222427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72"/>
                </a:solidFill>
                <a:latin typeface="Inter"/>
              </a:rPr>
              <a:t>Stati operativi distinti per colore, dal verde Available al grigio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6" y="2971800"/>
            <a:ext cx="23614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3E00FB"/>
                </a:solidFill>
                <a:latin typeface="Oswa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3995928"/>
            <a:ext cx="22242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16"/>
                </a:solidFill>
                <a:latin typeface="Inter"/>
              </a:rPr>
              <a:t>categorie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4434840"/>
            <a:ext cx="222427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72"/>
                </a:solidFill>
                <a:latin typeface="Inter"/>
              </a:rPr>
              <a:t>OOH (affissione classica) e DOOH (digitale), con strutture separate.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0234" y="2971800"/>
            <a:ext cx="23614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 i="0">
                <a:solidFill>
                  <a:srgbClr val="FF4A1C"/>
                </a:solidFill>
                <a:latin typeface="Oswald"/>
              </a:rPr>
              <a:t>133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0234" y="3995928"/>
            <a:ext cx="222427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16"/>
                </a:solidFill>
                <a:latin typeface="Inter"/>
              </a:rPr>
              <a:t>marker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0234" y="4434840"/>
            <a:ext cx="222427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B6B72"/>
                </a:solidFill>
                <a:latin typeface="Inter"/>
              </a:rPr>
              <a:t>Combinazioni totali esportate e organizzate in cartelle per tipo.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815584"/>
            <a:ext cx="109728" cy="109728"/>
          </a:xfrm>
          <a:prstGeom prst="ellipse">
            <a:avLst/>
          </a:prstGeom>
          <a:solidFill>
            <a:srgbClr val="FF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41416"/>
                </a:solidFill>
                <a:latin typeface="Inter"/>
              </a:rPr>
              <a:t>Anatomia di un marker — Pin + icona tipo + colore status</a:t>
            </a:r>
          </a:p>
        </p:txBody>
      </p:sp>
      <p:pic>
        <p:nvPicPr>
          <p:cNvPr id="20" name="Picture 19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STATUS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1416"/>
                </a:solidFill>
                <a:latin typeface="Oswald"/>
              </a:rPr>
              <a:t>I 7 status operativi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Lo status è definito dal colore del marker e si divide in due famiglie, secondo la funzionalità che usa la mappa.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9971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E00FB"/>
                </a:solidFill>
                <a:latin typeface="Oswald"/>
              </a:rPr>
              <a:t>AMMINISTRATIVI · INVENTARIO IMPIANTI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10128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409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3273552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Attivo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active · #4096FF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566160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Impianto operativo e in esercizio.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59936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FFC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4023360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Inizializzato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initialized · #FFC53D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15968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Creato, in fase di allestimento.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09744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773168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In Manutenzione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maintenance · #FFA940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5065776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Temporaneamente non operativo.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559552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522976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Rimosso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removed · #D9D9D9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815584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Dismesso, non più in esercizio.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476" y="2743200"/>
            <a:ext cx="49971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E00FB"/>
                </a:solidFill>
                <a:latin typeface="Oswald"/>
              </a:rPr>
              <a:t>COMMERCIALI · PIANIFICAZIONE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4476" y="3310128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3388" y="3273552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Disponibile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available · #52C41A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3388" y="3566160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Spazio libero, prenotabile.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4476" y="4059936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F75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3388" y="4023360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In Opzione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inOption · #F759AB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3388" y="4315968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Opzionato temporaneamente da un cliente.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4476" y="4809744"/>
            <a:ext cx="292608" cy="292608"/>
          </a:xfrm>
          <a:prstGeom prst="roundRect">
            <a:avLst>
              <a:gd name="adj" fmla="val 35000"/>
            </a:avLst>
          </a:prstGeom>
          <a:solidFill>
            <a:srgbClr val="925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3388" y="4773168"/>
            <a:ext cx="472287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Riservato</a:t>
            </a:r>
            <a:r>
              <a:rPr sz="1050" b="0" i="0">
                <a:solidFill>
                  <a:srgbClr val="B6B6BE"/>
                </a:solidFill>
                <a:latin typeface="Inter"/>
              </a:rPr>
              <a:t>   reserved · #9254DE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3388" y="5065776"/>
            <a:ext cx="46314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6B72"/>
                </a:solidFill>
                <a:latin typeface="Inter"/>
              </a:rPr>
              <a:t>Prenotato e confermato per una campagna.</a:t>
            </a:r>
          </a:p>
        </p:txBody>
      </p:sp>
      <p:pic>
        <p:nvPicPr>
          <p:cNvPr id="29" name="Picture 28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OUT OF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1416"/>
                </a:solidFill>
                <a:latin typeface="Oswald"/>
              </a:rPr>
              <a:t>Tipologie 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177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E00FB"/>
                </a:solidFill>
                <a:latin typeface="Oswald"/>
              </a:rPr>
              <a:t>OUT OF HOME · 15 TIPI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874166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Cartello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6854" y="2743200"/>
            <a:ext cx="1042415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Cassonetto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8998" y="2743200"/>
            <a:ext cx="1126540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Fermata 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5267" y="2743200"/>
            <a:ext cx="874166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Fioriera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9161" y="2743200"/>
            <a:ext cx="79004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Insegna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8931" y="2743200"/>
            <a:ext cx="705916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Palina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94576" y="2743200"/>
            <a:ext cx="1547164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Palina Butterfly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1468" y="2743200"/>
            <a:ext cx="95829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Palo Luce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9488" y="2743200"/>
            <a:ext cx="1210665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Parapedonale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95829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Pensilina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90979" y="3200400"/>
            <a:ext cx="79004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Plancia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90748" y="3200400"/>
            <a:ext cx="621792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Rotor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2268" y="3200400"/>
            <a:ext cx="874166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Speciale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6163" y="3200400"/>
            <a:ext cx="95829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Stendardo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4182" y="3200400"/>
            <a:ext cx="537667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Telo</a:t>
            </a:r>
          </a:p>
        </p:txBody>
      </p:sp>
      <p:pic>
        <p:nvPicPr>
          <p:cNvPr id="21" name="Picture 20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DIGITAL OUT OF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1416"/>
                </a:solidFill>
                <a:latin typeface="Oswald"/>
              </a:rPr>
              <a:t>Tipologie DOOH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177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3E00FB"/>
                </a:solidFill>
                <a:latin typeface="Oswald"/>
              </a:rPr>
              <a:t>DIGITAL OUT OF HOME · 4 TIPI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37667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Alux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70355" y="2743200"/>
            <a:ext cx="958291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Billboard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38374" y="2743200"/>
            <a:ext cx="621792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Totem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9894" y="2743200"/>
            <a:ext cx="874166" cy="347472"/>
          </a:xfrm>
          <a:prstGeom prst="roundRect">
            <a:avLst>
              <a:gd name="adj" fmla="val 50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0" i="0">
                <a:solidFill>
                  <a:srgbClr val="141416"/>
                </a:solidFill>
                <a:latin typeface="Inter"/>
              </a:rPr>
              <a:t>Speciale</a:t>
            </a:r>
          </a:p>
        </p:txBody>
      </p:sp>
      <p:pic>
        <p:nvPicPr>
          <p:cNvPr id="10" name="Picture 9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INVENTORY VS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1416"/>
                </a:solidFill>
                <a:latin typeface="Oswald"/>
              </a:rPr>
              <a:t>Le due mappe a confronto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6B72"/>
                </a:solidFill>
                <a:latin typeface="Inter"/>
              </a:rPr>
              <a:t>Lo stesso motore di mappa serve due funzionalità diverse. Il livello di interazione è condiviso; cambia il livello dato e lo scopo.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2331720"/>
          <a:ext cx="106070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4160520"/>
                <a:gridCol w="4160520"/>
              </a:tblGrid>
              <a:tr h="4064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Oswald"/>
                        </a:rPr>
                        <a:t/>
                      </a:r>
                    </a:p>
                  </a:txBody>
                  <a:tcPr marL="109728" marR="91440" marT="54864" marB="54864">
                    <a:solidFill>
                      <a:srgbClr val="3E0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Oswald"/>
                        </a:rPr>
                        <a:t>Inventario Impianti</a:t>
                      </a:r>
                    </a:p>
                  </a:txBody>
                  <a:tcPr marL="109728" marR="91440" marT="54864" marB="54864">
                    <a:solidFill>
                      <a:srgbClr val="3E0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Oswald"/>
                        </a:rPr>
                        <a:t>Pianificazione</a:t>
                      </a:r>
                    </a:p>
                  </a:txBody>
                  <a:tcPr marL="109728" marR="91440" marT="54864" marB="54864">
                    <a:solidFill>
                      <a:srgbClr val="3E00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Funzionalità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Il parco impianti esistente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Costruire una campagna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Livello dato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Stato amministrativo dell'impianto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Stato commerciale dello spazio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Stati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Attivo · In Manutenzione · Rimosso · Inizializzato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Disponibile · In Opzione · Riservato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Hover sul marker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Solo ingrandimento ×1.12 — nessuna card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Solo ingrandimento ×1.12 — nessuna card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Click sul marker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×1.4, gli altri si attenuano, apre la card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×1.4, gli altri si attenuano, apre la card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Azione nella card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Vai al dettaglio dell'impianto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Aggiungi / Rimuovi dalla pianificazione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Selezione multipla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Non prevista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Checkbox + badge ✓ viola sul marker</a:t>
                      </a:r>
                    </a:p>
                  </a:txBody>
                  <a:tcPr marL="109728" marR="91440" marT="45720" marB="45720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41416"/>
                          </a:solidFill>
                          <a:latin typeface="Inter"/>
                        </a:rPr>
                        <a:t>Cluster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Bolla colorata + alone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6B6B72"/>
                          </a:solidFill>
                          <a:latin typeface="Inter"/>
                        </a:rPr>
                        <a:t>Anche anello viola + label «selez./totale» (no MVP)</a:t>
                      </a:r>
                    </a:p>
                  </a:txBody>
                  <a:tcPr marL="109728" marR="91440" marT="45720" marB="45720"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INVENTARIO IMPIANTI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1416"/>
                </a:solidFill>
                <a:latin typeface="Oswald"/>
              </a:rPr>
              <a:t>Mappa —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72"/>
                </a:solidFill>
                <a:latin typeface="Inter"/>
              </a:rPr>
              <a:t>Scopo. Vedere e gestire il parco impianti esistente.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10058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Vista d'insieme — cluster per densità.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Click sul marker → card con «Vai al dettaglio».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Stato amministrativo: Attivo · In Manutenzione · Rimosso · Inizializzato.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Nessuna selezione multipla.</a:t>
            </a:r>
          </a:p>
        </p:txBody>
      </p:sp>
      <p:pic>
        <p:nvPicPr>
          <p:cNvPr id="7" name="Picture 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PIANIFICAZIONE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1416"/>
                </a:solidFill>
                <a:latin typeface="Oswald"/>
              </a:rPr>
              <a:t>Mappa —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6B72"/>
                </a:solidFill>
                <a:latin typeface="Inter"/>
              </a:rPr>
              <a:t>Scopo. Selezionare gli spazi disponibili per costruire una campagna.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100584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Vista d'insieme — cluster + impianti selezionati.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Click sul marker → card con «Aggiungi alla pianificazione».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Stato commerciale: Disponibile · In Opzione · Riservato.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600" b="0" i="0">
                <a:solidFill>
                  <a:srgbClr val="141416"/>
                </a:solidFill>
                <a:latin typeface="Inter"/>
              </a:rPr>
              <a:t>Selezione multipla con lista impianti.</a:t>
            </a:r>
          </a:p>
        </p:txBody>
      </p:sp>
      <p:pic>
        <p:nvPicPr>
          <p:cNvPr id="7" name="Picture 6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Come funzionano i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Quando più impianti sono vicini vengono aggregati in un cluster: un'unica bolla, con alone e numero del conteggio.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Stessa tinta della bolla, opacità 40%.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9223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4983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983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Bolla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4983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Colore in base alla cardinalità del cluster.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7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61247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1247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Numero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1247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Conteggio degli impianti — sempre visibile.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980176"/>
            <a:ext cx="109728" cy="109728"/>
          </a:xfrm>
          <a:prstGeom prst="ellipse">
            <a:avLst/>
          </a:prstGeom>
          <a:solidFill>
            <a:srgbClr val="FF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5943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72"/>
                </a:solidFill>
                <a:latin typeface="Inter"/>
              </a:rPr>
              <a:t>Il numero è sempre visibile, anche in MVP. Post-MVP (solo Planning): anello viola + label «selezionati / totale» sul cluster.</a:t>
            </a:r>
          </a:p>
        </p:txBody>
      </p:sp>
      <p:pic>
        <p:nvPicPr>
          <p:cNvPr id="20" name="Picture 19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41416"/>
                </a:solidFill>
                <a:latin typeface="Oswald"/>
              </a:rPr>
              <a:t>Scaglioni di colore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La scala è derivata dal primary Gravity #3E00FB: dal viola medio (pochi impianti) all'indaco profondo (cluster grandi). Sei scaglioni con passi di luminosità uniformi.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A4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752344"/>
            <a:ext cx="2599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044952"/>
            <a:ext cx="2599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≤ 2 impianti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291839"/>
            <a:ext cx="2599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#A47CFF · 32px</a:t>
            </a:r>
          </a:p>
        </p:txBody>
      </p:sp>
      <p:sp>
        <p:nvSpPr>
          <p:cNvPr id="10" name="Oval 9"/>
          <p:cNvSpPr/>
          <p:nvPr/>
        </p:nvSpPr>
        <p:spPr>
          <a:xfrm>
            <a:off x="4337304" y="2788920"/>
            <a:ext cx="502920" cy="502920"/>
          </a:xfrm>
          <a:prstGeom prst="ellipse">
            <a:avLst/>
          </a:prstGeom>
          <a:solidFill>
            <a:srgbClr val="976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8824" y="2752344"/>
            <a:ext cx="259994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8824" y="3044952"/>
            <a:ext cx="2599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3 – 5 impianti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68824" y="3291839"/>
            <a:ext cx="25999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#976AFF · 32px</a:t>
            </a:r>
          </a:p>
        </p:txBody>
      </p:sp>
      <p:sp>
        <p:nvSpPr>
          <p:cNvPr id="14" name="Oval 13"/>
          <p:cNvSpPr/>
          <p:nvPr/>
        </p:nvSpPr>
        <p:spPr>
          <a:xfrm>
            <a:off x="7851647" y="2788920"/>
            <a:ext cx="594360" cy="594360"/>
          </a:xfrm>
          <a:prstGeom prst="ellipse">
            <a:avLst/>
          </a:prstGeom>
          <a:solidFill>
            <a:srgbClr val="8A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4608" y="2752344"/>
            <a:ext cx="2508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4608" y="3044952"/>
            <a:ext cx="2508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6 – 10 impianti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74608" y="3291839"/>
            <a:ext cx="2508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#8A52FF · 36px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783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169663"/>
            <a:ext cx="2508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62272"/>
            <a:ext cx="2508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11 – 20 impianti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09159"/>
            <a:ext cx="2508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#7838FB · 36px</a:t>
            </a:r>
          </a:p>
        </p:txBody>
      </p:sp>
      <p:sp>
        <p:nvSpPr>
          <p:cNvPr id="22" name="Oval 21"/>
          <p:cNvSpPr/>
          <p:nvPr/>
        </p:nvSpPr>
        <p:spPr>
          <a:xfrm>
            <a:off x="4337304" y="4206240"/>
            <a:ext cx="685800" cy="685800"/>
          </a:xfrm>
          <a:prstGeom prst="ellipse">
            <a:avLst/>
          </a:prstGeom>
          <a:solidFill>
            <a:srgbClr val="3E0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1704" y="4169663"/>
            <a:ext cx="2417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1704" y="4462272"/>
            <a:ext cx="2417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21 – 50 impianti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1704" y="4709159"/>
            <a:ext cx="2417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#3E00FB · 40px</a:t>
            </a:r>
          </a:p>
        </p:txBody>
      </p:sp>
      <p:sp>
        <p:nvSpPr>
          <p:cNvPr id="26" name="Oval 25"/>
          <p:cNvSpPr/>
          <p:nvPr/>
        </p:nvSpPr>
        <p:spPr>
          <a:xfrm>
            <a:off x="7851647" y="4206240"/>
            <a:ext cx="685800" cy="685800"/>
          </a:xfrm>
          <a:prstGeom prst="ellipse">
            <a:avLst/>
          </a:prstGeom>
          <a:solidFill>
            <a:srgbClr val="290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66048" y="4169663"/>
            <a:ext cx="241706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16"/>
                </a:solidFill>
                <a:latin typeface="Inter"/>
              </a:rPr>
              <a:t>Scaglione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6048" y="4462272"/>
            <a:ext cx="2417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B72"/>
                </a:solidFill>
                <a:latin typeface="Inter"/>
              </a:rPr>
              <a:t>&gt; 50 impianti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6048" y="4709159"/>
            <a:ext cx="24170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B6B6BE"/>
                </a:solidFill>
                <a:latin typeface="Inter"/>
              </a:rPr>
              <a:t>#2900A0 · 40px</a:t>
            </a:r>
          </a:p>
        </p:txBody>
      </p:sp>
      <p:pic>
        <p:nvPicPr>
          <p:cNvPr id="30" name="Picture 29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ZOOM &amp; AGGREGAZIONE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Da cluster a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Logica di aggregazione.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Decluster a zoom &gt;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Oltre questa soglia i cluster si sciolgono e si mostrano tutti i marker individuali.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9223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24983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983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Click = zoom-to-bounds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4983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La mappa si adatta esattamente sugli impianti contenuti, non uno zoom fisso.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7" y="2971800"/>
            <a:ext cx="3270503" cy="2743200"/>
          </a:xfrm>
          <a:prstGeom prst="roundRect">
            <a:avLst>
              <a:gd name="adj" fmla="val 6000"/>
            </a:avLst>
          </a:prstGeom>
          <a:solidFill>
            <a:srgbClr val="F4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61247" y="3337560"/>
            <a:ext cx="566928" cy="566928"/>
          </a:xfrm>
          <a:prstGeom prst="ellipse">
            <a:avLst/>
          </a:prstGeom>
          <a:solidFill>
            <a:srgbClr val="3E0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 i="0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1247" y="4160520"/>
            <a:ext cx="253898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141416"/>
                </a:solidFill>
                <a:latin typeface="Oswald"/>
              </a:rPr>
              <a:t>Baricentro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1247" y="4800600"/>
            <a:ext cx="253898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B72"/>
                </a:solidFill>
                <a:latin typeface="Inter"/>
              </a:rPr>
              <a:t>Il cluster è posizionato sulla media delle coordinate degli impianti.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980176"/>
            <a:ext cx="109728" cy="109728"/>
          </a:xfrm>
          <a:prstGeom prst="ellipse">
            <a:avLst/>
          </a:prstGeom>
          <a:solidFill>
            <a:srgbClr val="FF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5943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B6B72"/>
                </a:solidFill>
                <a:latin typeface="Inter"/>
              </a:rPr>
              <a:t>Dimensione marker per zoom — il marker base scala con lo zoom; gli stati di interazione applicano un moltiplicatore su questa dimensione.</a:t>
            </a:r>
          </a:p>
        </p:txBody>
      </p:sp>
      <p:pic>
        <p:nvPicPr>
          <p:cNvPr id="20" name="Picture 19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FF4A1C"/>
                </a:solidFill>
                <a:latin typeface="Oswald"/>
              </a:rPr>
              <a:t>INTERAZIONE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24128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41416"/>
                </a:solidFill>
                <a:latin typeface="Oswald"/>
              </a:rPr>
              <a:t>Comportamento del 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E00FB"/>
                </a:solidFill>
                <a:latin typeface="Inter"/>
              </a:rPr>
              <a:t>Stati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Default — icona base, scala con lo zoom.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Hover — solo ingrandimento ×1.12, nessuna card.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Focused (click) — ×1.4 + ombra viola, apre la card e attenua gli altri.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24028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E00FB"/>
                </a:solidFill>
                <a:latin typeface="Inter"/>
              </a:rPr>
              <a:t>Selezione &amp; contesto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78892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Selected — checkbox attivo, badge ✓ viola (solo Planning).</a:t>
            </a:r>
          </a:p>
          <a:p>
            <a:pPr marL="274320" indent="-274320">
              <a:lnSpc>
                <a:spcPct val="118000"/>
              </a:lnSpc>
              <a:spcAft>
                <a:spcPts val="800"/>
              </a:spcAft>
              <a:buClr>
                <a:srgbClr val="FF4A1C"/>
              </a:buClr>
              <a:buSzPct val="70000"/>
              <a:buFont typeface="Arial"/>
              <a:buChar char="▪"/>
            </a:pPr>
            <a:r>
              <a:rPr sz="1500" b="0" i="0">
                <a:solidFill>
                  <a:srgbClr val="141416"/>
                </a:solidFill>
                <a:latin typeface="Inter"/>
              </a:rPr>
              <a:t>Dimmed — opacità 0.2 quando un altro marker è in focus.</a:t>
            </a:r>
          </a:p>
        </p:txBody>
      </p:sp>
      <p:pic>
        <p:nvPicPr>
          <p:cNvPr id="9" name="Picture 8" descr="typ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91072"/>
            <a:ext cx="960120" cy="3227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07040" y="6272784"/>
            <a:ext cx="10332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B6B6B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