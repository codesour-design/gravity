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embeddedFontLst>
    <p:embeddedFont>
      <p:font typeface="Oswald"/>
      <p:regular r:id="rId9001"/>
      <p:bold r:id="rId9002"/>
    </p:embeddedFont>
    <p:embeddedFont>
      <p:font typeface="Inter"/>
      <p:regular r:id="rId9003"/>
      <p:bold r:id="rId900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-1005840"/>
            <a:ext cx="5559552" cy="8778240"/>
          </a:xfrm>
          <a:prstGeom prst="rect">
            <a:avLst/>
          </a:prstGeom>
        </p:spPr>
      </p:pic>
      <p:pic>
        <p:nvPicPr>
          <p:cNvPr id="4" name="Picture 3" descr="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31520"/>
            <a:ext cx="1554480" cy="522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TIPO DI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8595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 i="0">
                <a:solidFill>
                  <a:srgbClr val="FFFFFF"/>
                </a:solidFill>
                <a:latin typeface="Oswald"/>
              </a:rPr>
              <a:t>Titolo del documento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DAD3FF"/>
                </a:solidFill>
                <a:latin typeface="Inter"/>
              </a:rPr>
              <a:t>Sottotitolo o claim su una o due righe, in Inter.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6089904"/>
            <a:ext cx="146304" cy="146304"/>
          </a:xfrm>
          <a:prstGeom prst="ellipse">
            <a:avLst/>
          </a:prstGeom>
          <a:solidFill>
            <a:srgbClr val="FF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6BFF2"/>
                </a:solidFill>
                <a:latin typeface="Inter"/>
              </a:rPr>
              <a:t>CodeSour · Gravity ·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SOMMARIO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41416"/>
                </a:solidFill>
                <a:latin typeface="Oswald"/>
              </a:rPr>
              <a:t>Indice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76856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E00FB"/>
                </a:solidFill>
                <a:latin typeface="Oswa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37744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41416"/>
                </a:solidFill>
                <a:latin typeface="Inter"/>
              </a:rPr>
              <a:t>Contesto e obiettivi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08376"/>
            <a:ext cx="493776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18104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E00FB"/>
                </a:solidFill>
                <a:latin typeface="Oswa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21868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41416"/>
                </a:solidFill>
                <a:latin typeface="Inter"/>
              </a:rPr>
              <a:t>Approccio e metodo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49624"/>
            <a:ext cx="493776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1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E00FB"/>
                </a:solidFill>
                <a:latin typeface="Oswa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59935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41416"/>
                </a:solidFill>
                <a:latin typeface="Inter"/>
              </a:rPr>
              <a:t>Soluzione proposta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90871"/>
            <a:ext cx="493776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E00FB"/>
                </a:solidFill>
                <a:latin typeface="Oswal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901184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41416"/>
                </a:solidFill>
                <a:latin typeface="Inter"/>
              </a:rPr>
              <a:t>Valore e prossimi passi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2120"/>
            <a:ext cx="4937760" cy="12700"/>
          </a:xfrm>
          <a:prstGeom prst="rect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011680"/>
            <a:ext cx="3822192" cy="603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554480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FF4A1C"/>
                </a:solidFill>
                <a:latin typeface="Oswa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 i="0">
                <a:solidFill>
                  <a:srgbClr val="FFFFFF"/>
                </a:solidFill>
                <a:latin typeface="Oswald"/>
              </a:rPr>
              <a:t>Contesto e obiettivi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1208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2C0CE"/>
                </a:solidFill>
                <a:latin typeface="Inter"/>
              </a:rPr>
              <a:t>Il punto di partenza e cosa vogliamo ottenere.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CONTESTO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1416"/>
                </a:solidFill>
                <a:latin typeface="Oswald"/>
              </a:rPr>
              <a:t>Il problema da risolvere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72"/>
                </a:solidFill>
                <a:latin typeface="Inter"/>
              </a:rPr>
              <a:t>Una breve introduzione che inquadra il tema in due o tre righe, scritta in Inter con colore secondario per non competere con il titolo.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57016"/>
            <a:ext cx="10058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Primo punto chiave, conciso e azionabile.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Secondo punto che aggiunge una sfumatura importante.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Terzo punto a chiusura del ragionamento.</a:t>
            </a:r>
          </a:p>
        </p:txBody>
      </p:sp>
      <p:pic>
        <p:nvPicPr>
          <p:cNvPr id="7" name="Picture 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APPROCCIO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Due binari complementari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E00FB"/>
                </a:solidFill>
                <a:latin typeface="Inter"/>
              </a:rPr>
              <a:t>Sul prototipo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Traccia il flusso con un tour guidato.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Inspector dei componenti.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Matrici di dipendenza tra entità.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E00FB"/>
                </a:solidFill>
                <a:latin typeface="Inter"/>
              </a:rPr>
              <a:t>Su 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889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Lavoro misurabile in ticket.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Stimabile e tracciabile nel backlog.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Requisiti e criteri di accettazione.</a:t>
            </a:r>
          </a:p>
        </p:txBody>
      </p:sp>
      <p:pic>
        <p:nvPicPr>
          <p:cNvPr id="9" name="Picture 8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SOLUZIONE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Tre pilastri del metodo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270503" cy="32004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8803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033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Coerenza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253898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Regole, stati e logiche formalizzati in un solo posto, ancorati all'elemento.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9223" y="2514600"/>
            <a:ext cx="3270503" cy="32004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24983" y="28803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4983" y="37033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Tracciabilità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983" y="4343400"/>
            <a:ext cx="253898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Ogni User Story porta l'identificativo del ticket: prototipo e Jira allineati.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5487" y="2514600"/>
            <a:ext cx="3270503" cy="32004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61247" y="28803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1247" y="37033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Velocità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1247" y="4343400"/>
            <a:ext cx="253898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Meno cicli di chiarimento, meno assunzioni errate, meno rilavorazione.</a:t>
            </a:r>
          </a:p>
        </p:txBody>
      </p:sp>
      <p:pic>
        <p:nvPicPr>
          <p:cNvPr id="17" name="Picture 1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VALORE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L'impatto in sintesi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32400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3E00FB"/>
                </a:solidFill>
                <a:latin typeface="Oswald"/>
              </a:rPr>
              <a:t>−40%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3148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6B72"/>
                </a:solidFill>
                <a:latin typeface="Inter"/>
              </a:rPr>
              <a:t>cicli di chiarimento stimati in meno tra design e sviluppo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7304" y="2743200"/>
            <a:ext cx="32400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FF4A1C"/>
                </a:solidFill>
                <a:latin typeface="Oswa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7304" y="3977639"/>
            <a:ext cx="3148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6B72"/>
                </a:solidFill>
                <a:latin typeface="Inter"/>
              </a:rPr>
              <a:t>fonte di verità per regole, stati e casi limite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1647" y="2743200"/>
            <a:ext cx="32400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3E00FB"/>
                </a:solidFill>
                <a:latin typeface="Oswal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1647" y="3977639"/>
            <a:ext cx="3148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6B72"/>
                </a:solidFill>
                <a:latin typeface="Inter"/>
              </a:rPr>
              <a:t>User Story collegate al ticket Jira corrispondente</a:t>
            </a:r>
          </a:p>
        </p:txBody>
      </p:sp>
      <p:pic>
        <p:nvPicPr>
          <p:cNvPr id="11" name="Picture 10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-822960"/>
            <a:ext cx="5443728" cy="8595360"/>
          </a:xfrm>
          <a:prstGeom prst="rect">
            <a:avLst/>
          </a:prstGeom>
        </p:spPr>
      </p:pic>
      <p:pic>
        <p:nvPicPr>
          <p:cNvPr id="4" name="Picture 3" descr="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1554480" cy="522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651760"/>
            <a:ext cx="96012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 i="0">
                <a:solidFill>
                  <a:srgbClr val="FFFFFF"/>
                </a:solidFill>
                <a:latin typeface="Oswald"/>
              </a:rPr>
              <a:t>buon lavoro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4754880"/>
            <a:ext cx="146304" cy="146304"/>
          </a:xfrm>
          <a:prstGeom prst="ellipse">
            <a:avLst/>
          </a:prstGeom>
          <a:solidFill>
            <a:srgbClr val="FF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7000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99A6"/>
                </a:solidFill>
                <a:latin typeface="Inter"/>
              </a:rPr>
              <a:t>Gravity · CodeSour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