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toic-friendly-ptolemy/mnt/outputs/png/hero_cartello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rcRect l="0" r="0" t="0" b="0"/>
          <a:stretch/>
        </p:blipFill>
        <p:spPr>
          <a:xfrm>
            <a:off x="8869680" y="548640"/>
            <a:ext cx="329184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 ·  DESIGN SYSTEM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Marker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Libreria delle icone mappa per spazi pubblicitari OOH &amp; DOOH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4297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Tipologie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88920" y="4297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788920" y="5074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4297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754880" y="5074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4297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720840" y="5074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ATTRACT, REACH, CONNECT PEOPLE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Cos'e il sistema marker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14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marker sono le icone che rappresentano gli spazi pubblicitari sulla mappa Gravity.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14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marker codifica tre informazioni: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tipologia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14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dello spazio (forma dell'icona),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status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14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operativo (colore) e la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14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OOH o DOOH (struttura).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tipologie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8130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Tipi di impianto, da Cartello a Billboard, ciascuno con un'icona dedicata.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69080" y="324612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status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97680" y="38130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 operativi distinti per colore, dal verde Available al grigio Removed.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categorie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51560" y="54132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OOH (affissione classica) e DOOH (digitale), con strutture separate.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484632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marker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97680" y="54132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Combinazioni totali esportate e organizzate in cartelle per tipo.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178308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/sessions/stoic-friendly-ptolemy/mnt/outputs/png/hero_cartel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49640" y="2240280"/>
            <a:ext cx="2057400" cy="30906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95528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di un marker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55280" y="5779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+ icona tipo + colore status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7 status operativi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status e definito dal colore del marker e si divide in due famiglie, secondo la funzionalita che usa la mappa.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56816"/>
            <a:ext cx="164592" cy="164592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88366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Amministrativi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Inventario Impianti — stato fisico dell'impianto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2514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stoic-friendly-ptolemy/mnt/outputs/png/status_ac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" y="2514600"/>
            <a:ext cx="566928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64208" y="2578608"/>
            <a:ext cx="137160" cy="137160"/>
          </a:xfrm>
          <a:prstGeom prst="ellipse">
            <a:avLst/>
          </a:prstGeom>
          <a:solidFill>
            <a:srgbClr val="4096FF"/>
          </a:solidFill>
          <a:ln/>
        </p:spPr>
      </p:sp>
      <p:sp>
        <p:nvSpPr>
          <p:cNvPr id="10" name="Text 7"/>
          <p:cNvSpPr/>
          <p:nvPr/>
        </p:nvSpPr>
        <p:spPr>
          <a:xfrm>
            <a:off x="1856232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Attivo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56232" y="2779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#4096FF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45920" y="309981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Impianto operativo e in esercizio.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02152" y="2331720"/>
            <a:ext cx="2514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/sessions/stoic-friendly-ptolemy/mnt/outputs/png/status_initializ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48456" y="2514600"/>
            <a:ext cx="566928" cy="868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43400" y="2578608"/>
            <a:ext cx="137160" cy="137160"/>
          </a:xfrm>
          <a:prstGeom prst="ellipse">
            <a:avLst/>
          </a:prstGeom>
          <a:solidFill>
            <a:srgbClr val="FFC53D"/>
          </a:solidFill>
          <a:ln/>
        </p:spPr>
      </p:sp>
      <p:sp>
        <p:nvSpPr>
          <p:cNvPr id="16" name="Text 12"/>
          <p:cNvSpPr/>
          <p:nvPr/>
        </p:nvSpPr>
        <p:spPr>
          <a:xfrm>
            <a:off x="4535424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Inizializzato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35424" y="2779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#FFC53D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325112" y="309981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Creato, in fase di allestimento.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81344" y="2331720"/>
            <a:ext cx="2514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/sessions/stoic-friendly-ptolemy/mnt/outputs/png/status_maintenanc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7648" y="2514600"/>
            <a:ext cx="566928" cy="8686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022592" y="2578608"/>
            <a:ext cx="137160" cy="137160"/>
          </a:xfrm>
          <a:prstGeom prst="ellipse">
            <a:avLst/>
          </a:prstGeom>
          <a:solidFill>
            <a:srgbClr val="FFA940"/>
          </a:solidFill>
          <a:ln/>
        </p:spPr>
      </p:sp>
      <p:sp>
        <p:nvSpPr>
          <p:cNvPr id="22" name="Text 17"/>
          <p:cNvSpPr/>
          <p:nvPr/>
        </p:nvSpPr>
        <p:spPr>
          <a:xfrm>
            <a:off x="7214616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Manutenzione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214616" y="2779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#FFA940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004304" y="309981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Temporaneamente non operativo.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860536" y="2331720"/>
            <a:ext cx="2514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/sessions/stoic-friendly-ptolemy/mnt/outputs/png/status_remov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06840" y="2514600"/>
            <a:ext cx="566928" cy="8686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701784" y="2578608"/>
            <a:ext cx="137160" cy="13716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8" name="Text 22"/>
          <p:cNvSpPr/>
          <p:nvPr/>
        </p:nvSpPr>
        <p:spPr>
          <a:xfrm>
            <a:off x="9893808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Rimosso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893808" y="2779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#D9D9D9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9683496" y="309981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Dismesso, non piu in esercizio.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22960" y="4379976"/>
            <a:ext cx="164592" cy="164592"/>
          </a:xfrm>
          <a:prstGeom prst="ellipse">
            <a:avLst/>
          </a:prstGeom>
          <a:solidFill>
            <a:srgbClr val="3E00FB"/>
          </a:solidFill>
          <a:ln/>
        </p:spPr>
      </p:sp>
      <p:sp>
        <p:nvSpPr>
          <p:cNvPr id="32" name="Text 26"/>
          <p:cNvSpPr/>
          <p:nvPr/>
        </p:nvSpPr>
        <p:spPr>
          <a:xfrm>
            <a:off x="1078992" y="43068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Commerciali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Pianificazione — disponibilita commerciale dello spazio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822960" y="4754880"/>
            <a:ext cx="2514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/sessions/stoic-friendly-ptolemy/mnt/outputs/png/status_availabl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9264" y="4937760"/>
            <a:ext cx="566928" cy="86868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664208" y="5001768"/>
            <a:ext cx="137160" cy="13716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36" name="Text 29"/>
          <p:cNvSpPr/>
          <p:nvPr/>
        </p:nvSpPr>
        <p:spPr>
          <a:xfrm>
            <a:off x="1856232" y="4928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856232" y="52029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#52C41A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645920" y="552297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Spazio libero, prenotabile.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502152" y="4754880"/>
            <a:ext cx="2514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5" descr="/sessions/stoic-friendly-ptolemy/mnt/outputs/png/status_inOptio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48456" y="4937760"/>
            <a:ext cx="566928" cy="86868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4343400" y="5001768"/>
            <a:ext cx="137160" cy="137160"/>
          </a:xfrm>
          <a:prstGeom prst="ellipse">
            <a:avLst/>
          </a:prstGeom>
          <a:solidFill>
            <a:srgbClr val="F759AB"/>
          </a:solidFill>
          <a:ln/>
        </p:spPr>
      </p:sp>
      <p:sp>
        <p:nvSpPr>
          <p:cNvPr id="42" name="Text 34"/>
          <p:cNvSpPr/>
          <p:nvPr/>
        </p:nvSpPr>
        <p:spPr>
          <a:xfrm>
            <a:off x="4535424" y="4928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Opzione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4535424" y="52029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inOption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#F759AB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4325112" y="552297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Opzionato temporaneamente da un cliente.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6181344" y="4754880"/>
            <a:ext cx="2514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46" name="Image 6" descr="/sessions/stoic-friendly-ptolemy/mnt/outputs/png/status_reserv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27648" y="4937760"/>
            <a:ext cx="566928" cy="86868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022592" y="5001768"/>
            <a:ext cx="137160" cy="137160"/>
          </a:xfrm>
          <a:prstGeom prst="ellipse">
            <a:avLst/>
          </a:prstGeom>
          <a:solidFill>
            <a:srgbClr val="9254DE"/>
          </a:solidFill>
          <a:ln/>
        </p:spPr>
      </p:sp>
      <p:sp>
        <p:nvSpPr>
          <p:cNvPr id="48" name="Text 39"/>
          <p:cNvSpPr/>
          <p:nvPr/>
        </p:nvSpPr>
        <p:spPr>
          <a:xfrm>
            <a:off x="7214616" y="4928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Riservato</a:t>
            </a:r>
            <a:endParaRPr lang="en-US" sz="1300" dirty="0"/>
          </a:p>
        </p:txBody>
      </p:sp>
      <p:sp>
        <p:nvSpPr>
          <p:cNvPr id="49" name="Text 40"/>
          <p:cNvSpPr/>
          <p:nvPr/>
        </p:nvSpPr>
        <p:spPr>
          <a:xfrm>
            <a:off x="7214616" y="52029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reserved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#9254DE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7004304" y="552297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Prenotato e confermato per una campagna.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HOME · 15 TIPI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Tipologie OOH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5440" y="155448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stoic-friendly-ptolemy/mnt/outputs/png/ooh_cartel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3369" y="1742846"/>
            <a:ext cx="607262" cy="910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6880" y="274746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Cartello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94864" y="155448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sessions/stoic-friendly-ptolemy/mnt/outputs/png/ooh_cassonett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42793" y="1742846"/>
            <a:ext cx="607262" cy="9104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6304" y="274746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Cassonetto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44288" y="155448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/sessions/stoic-friendly-ptolemy/mnt/outputs/png/ooh_fermata_bu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92217" y="1742846"/>
            <a:ext cx="607262" cy="9104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5728" y="274746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Fermata bus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293712" y="155448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/sessions/stoic-friendly-ptolemy/mnt/outputs/png/ooh_fiorier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41641" y="1742846"/>
            <a:ext cx="607262" cy="9104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85152" y="274746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Fioriera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9543136" y="155448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4" descr="/sessions/stoic-friendly-ptolemy/mnt/outputs/png/ooh_insegn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291065" y="1742846"/>
            <a:ext cx="607262" cy="9104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34576" y="274746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Insegna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5440" y="326136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5" descr="/sessions/stoic-friendly-ptolemy/mnt/outputs/png/ooh_palina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93369" y="3449726"/>
            <a:ext cx="607262" cy="9104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6880" y="445434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Palina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2794864" y="326136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/sessions/stoic-friendly-ptolemy/mnt/outputs/png/ooh_palina_butterfly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542793" y="3449726"/>
            <a:ext cx="607262" cy="91043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886304" y="445434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Palina Butterfly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5044288" y="326136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7" descr="/sessions/stoic-friendly-ptolemy/mnt/outputs/png/ooh_palo_luce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92217" y="3449726"/>
            <a:ext cx="607262" cy="91043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35728" y="445434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Luce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7293712" y="326136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9" name="Image 8" descr="/sessions/stoic-friendly-ptolemy/mnt/outputs/png/ooh_parapedonale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041641" y="3449726"/>
            <a:ext cx="607262" cy="91043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385152" y="445434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Parapedonale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9543136" y="326136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32" name="Image 9" descr="/sessions/stoic-friendly-ptolemy/mnt/outputs/png/ooh_pensilina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291065" y="3449726"/>
            <a:ext cx="607262" cy="91043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634576" y="445434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Pensilina</a:t>
            </a:r>
            <a:endParaRPr lang="en-US" sz="1300" dirty="0"/>
          </a:p>
        </p:txBody>
      </p:sp>
      <p:sp>
        <p:nvSpPr>
          <p:cNvPr id="34" name="Shape 22"/>
          <p:cNvSpPr/>
          <p:nvPr/>
        </p:nvSpPr>
        <p:spPr>
          <a:xfrm>
            <a:off x="545440" y="496824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10" descr="/sessions/stoic-friendly-ptolemy/mnt/outputs/png/ooh_plancia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293369" y="5156606"/>
            <a:ext cx="607262" cy="91043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36880" y="616122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Plancia</a:t>
            </a:r>
            <a:endParaRPr lang="en-US" sz="1300" dirty="0"/>
          </a:p>
        </p:txBody>
      </p:sp>
      <p:sp>
        <p:nvSpPr>
          <p:cNvPr id="37" name="Shape 24"/>
          <p:cNvSpPr/>
          <p:nvPr/>
        </p:nvSpPr>
        <p:spPr>
          <a:xfrm>
            <a:off x="2794864" y="496824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11" descr="/sessions/stoic-friendly-ptolemy/mnt/outputs/png/ooh_rotor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542793" y="5156606"/>
            <a:ext cx="607262" cy="91043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2886304" y="616122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</a:t>
            </a:r>
            <a:endParaRPr lang="en-US" sz="1300" dirty="0"/>
          </a:p>
        </p:txBody>
      </p:sp>
      <p:sp>
        <p:nvSpPr>
          <p:cNvPr id="40" name="Shape 26"/>
          <p:cNvSpPr/>
          <p:nvPr/>
        </p:nvSpPr>
        <p:spPr>
          <a:xfrm>
            <a:off x="5044288" y="496824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12" descr="/sessions/stoic-friendly-ptolemy/mnt/outputs/png/ooh_speciale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792217" y="5156606"/>
            <a:ext cx="607262" cy="91043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5135728" y="616122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Speciale</a:t>
            </a:r>
            <a:endParaRPr lang="en-US" sz="1300" dirty="0"/>
          </a:p>
        </p:txBody>
      </p:sp>
      <p:sp>
        <p:nvSpPr>
          <p:cNvPr id="43" name="Shape 28"/>
          <p:cNvSpPr/>
          <p:nvPr/>
        </p:nvSpPr>
        <p:spPr>
          <a:xfrm>
            <a:off x="7293712" y="496824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44" name="Image 13" descr="/sessions/stoic-friendly-ptolemy/mnt/outputs/png/ooh_stendardo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041641" y="5156606"/>
            <a:ext cx="607262" cy="91043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7385152" y="616122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Stendardo</a:t>
            </a:r>
            <a:endParaRPr lang="en-US" sz="1300" dirty="0"/>
          </a:p>
        </p:txBody>
      </p:sp>
      <p:sp>
        <p:nvSpPr>
          <p:cNvPr id="46" name="Shape 30"/>
          <p:cNvSpPr/>
          <p:nvPr/>
        </p:nvSpPr>
        <p:spPr>
          <a:xfrm>
            <a:off x="9543136" y="4968240"/>
            <a:ext cx="2103120" cy="1569720"/>
          </a:xfrm>
          <a:prstGeom prst="roundRect">
            <a:avLst>
              <a:gd name="adj" fmla="val 524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47" name="Image 14" descr="/sessions/stoic-friendly-ptolemy/mnt/outputs/png/ooh_telo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291065" y="5156606"/>
            <a:ext cx="607262" cy="910438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9634576" y="616122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OUT OF HOME · 4 TIPI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Tipologie DOOH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5440" y="294894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stoic-friendly-ptolemy/mnt/outputs/png/dooh_alu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2506" y="3212287"/>
            <a:ext cx="848987" cy="12728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6880" y="461680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Alux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94864" y="294894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sessions/stoic-friendly-ptolemy/mnt/outputs/png/dooh_bill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21930" y="3212287"/>
            <a:ext cx="848987" cy="12728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6304" y="461680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44288" y="294894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/sessions/stoic-friendly-ptolemy/mnt/outputs/png/dooh_tote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71354" y="3212287"/>
            <a:ext cx="848987" cy="12728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5728" y="461680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293712" y="294894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/sessions/stoic-friendly-ptolemy/mnt/outputs/png/dooh_special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20778" y="3212287"/>
            <a:ext cx="848987" cy="12728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85152" y="461680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VS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due mappe a confronto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stesso motore di mappa serve due funzionalita diverse. Il livello di interazione e condiviso; cambia il livello dato e lo scopo.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94760" y="2103120"/>
            <a:ext cx="3703320" cy="434340"/>
          </a:xfrm>
          <a:prstGeom prst="rect">
            <a:avLst/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2103120"/>
            <a:ext cx="3703320" cy="434340"/>
          </a:xfrm>
          <a:prstGeom prst="rect">
            <a:avLst/>
          </a:prstGeom>
          <a:solidFill>
            <a:srgbClr val="F4F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21408"/>
            <a:ext cx="2926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Funzionalita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121408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Impianti — il parco impianti esistente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2121408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Pianificazione — costruire una campagna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555748"/>
            <a:ext cx="10607040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28900"/>
            <a:ext cx="2926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Livello dato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628900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amministrativo dell'impianto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2628900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commerciale dello spazio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10607040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36392"/>
            <a:ext cx="2926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136392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Attivo · In Manutenzione · Rimosso · Inizializzato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3136392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Disponibile · In Opzione · Riservato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570732"/>
            <a:ext cx="10607040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43884"/>
            <a:ext cx="2926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sul marker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3643884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ingrandimento ×1.12 — nessuna card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643884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ingrandimento ×1.12 — nessuna card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078224"/>
            <a:ext cx="10607040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51376"/>
            <a:ext cx="2926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sul marker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4151376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×1.4, gli altri marker si attenuano, si apre la card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151376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×1.4, gli altri marker si attenuano, si apre la card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585716"/>
            <a:ext cx="10607040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58868"/>
            <a:ext cx="2926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Azione nella card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4658868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al dettaglio dell'impianto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658868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Aggiungi / Rimuovi dalla pianificazione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093208"/>
            <a:ext cx="10607040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166360"/>
            <a:ext cx="2926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Selezione multipla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31920" y="5166360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prevista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5166360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+ badge ✓ viola sul marker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5600700"/>
            <a:ext cx="10607040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673852"/>
            <a:ext cx="2926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0" y="5673852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Bolla colorata + alone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0" y="5673852"/>
            <a:ext cx="3657600" cy="4160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Anche anello viola + label "selez. / totale" (no MVP)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IMPIANTI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 — Inventory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stoic-friendly-ptolemy/mnt/outputs/png/shot_inventory_defa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08760"/>
            <a:ext cx="53949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53912" y="146304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1" descr="/sessions/stoic-friendly-ptolemy/mnt/outputs/png/shot_inventory_c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508760"/>
            <a:ext cx="5394960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" y="4361688"/>
            <a:ext cx="118872" cy="118872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9" name="Text 5"/>
          <p:cNvSpPr/>
          <p:nvPr/>
        </p:nvSpPr>
        <p:spPr>
          <a:xfrm>
            <a:off x="786384" y="42793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d'insieme — cluster per densità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99632" y="4361688"/>
            <a:ext cx="118872" cy="118872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11" name="Text 7"/>
          <p:cNvSpPr/>
          <p:nvPr/>
        </p:nvSpPr>
        <p:spPr>
          <a:xfrm>
            <a:off x="6391656" y="42793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sul marker → card con "Vai al dettaglio"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0292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Scopo.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Vedere e gestire il parco impianti esistente.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amministrativo: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Attivo · In Manutenzione · Rimosso · Inizializzato.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 la card (azione: Vai al dettaglio). Nessuna selezione multipla.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 —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stoic-friendly-ptolemy/mnt/outputs/png/shot_planning_defa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08760"/>
            <a:ext cx="53949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53912" y="146304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1" descr="/sessions/stoic-friendly-ptolemy/mnt/outputs/png/shot_planning_c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508760"/>
            <a:ext cx="5394960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" y="4361688"/>
            <a:ext cx="118872" cy="118872"/>
          </a:xfrm>
          <a:prstGeom prst="ellipse">
            <a:avLst/>
          </a:prstGeom>
          <a:solidFill>
            <a:srgbClr val="3E00FB"/>
          </a:solidFill>
          <a:ln/>
        </p:spPr>
      </p:sp>
      <p:sp>
        <p:nvSpPr>
          <p:cNvPr id="9" name="Text 5"/>
          <p:cNvSpPr/>
          <p:nvPr/>
        </p:nvSpPr>
        <p:spPr>
          <a:xfrm>
            <a:off x="786384" y="42793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d'insieme — cluster + impianti selezionati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99632" y="4361688"/>
            <a:ext cx="118872" cy="118872"/>
          </a:xfrm>
          <a:prstGeom prst="ellipse">
            <a:avLst/>
          </a:prstGeom>
          <a:solidFill>
            <a:srgbClr val="3E00FB"/>
          </a:solidFill>
          <a:ln/>
        </p:spPr>
      </p:sp>
      <p:sp>
        <p:nvSpPr>
          <p:cNvPr id="11" name="Text 7"/>
          <p:cNvSpPr/>
          <p:nvPr/>
        </p:nvSpPr>
        <p:spPr>
          <a:xfrm>
            <a:off x="6391656" y="42793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sul marker → card con "Aggiungi alla pianificazione"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F4F1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0292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Scopo.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Selezionare gli spazi disponibili per costruire una campagna.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commerciale: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Disponibile · In Opzione · Riservato.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 la card (azione: Aggiungi/Rimuovi) + selezione multipla con lista impianti.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funzionano i cluster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piu impianti sono vicini vengono aggregati in un cluster: un'unica bolla, con alone e numero del conteggio.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520440" cy="4389120"/>
          </a:xfrm>
          <a:prstGeom prst="roundRect">
            <a:avLst>
              <a:gd name="adj" fmla="val 3117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sessions/stoic-friendly-ptolemy/mnt/outputs/png/cl_anat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2286000"/>
            <a:ext cx="1508760" cy="1508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del cluster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4251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stessa tinta, opacita 40%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 in base alla cardinalita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conteggio — sempre visibile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1920240"/>
            <a:ext cx="70866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sessions/stoic-friendly-ptolemy/mnt/outputs/png/shot_inventory_defaul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965960"/>
            <a:ext cx="6995160" cy="3154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523951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reali sulla mappa — il numero del conteggio e sempre mostrato.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17720" y="5623560"/>
            <a:ext cx="7086600" cy="685800"/>
          </a:xfrm>
          <a:prstGeom prst="roundRect">
            <a:avLst>
              <a:gd name="adj" fmla="val 10667"/>
            </a:avLst>
          </a:prstGeom>
          <a:solidFill>
            <a:srgbClr val="F4F1FF"/>
          </a:solidFill>
          <a:ln w="12700">
            <a:solidFill>
              <a:srgbClr val="E0D6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5623560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numero e sempre visibile, anche in MVP.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Post-MVP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(solo Planning): anello viola + label "selezionati / totale" sul cluster.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Scaglioni di colore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scala e derivata dal primary Gravity #3E00FB: dal viola medio (pochi impianti) all'indaco profondo (cluster grandi). Sei scaglioni con passi di luminosita uniformi.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sessions/stoic-friendly-ptolemy/mnt/outputs/png/cl_tier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" y="2807208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Scaglione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4884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 impianti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148840" y="3502152"/>
            <a:ext cx="146304" cy="146304"/>
          </a:xfrm>
          <a:prstGeom prst="ellipse">
            <a:avLst/>
          </a:prstGeom>
          <a:solidFill>
            <a:srgbClr val="A47CFF"/>
          </a:solidFill>
          <a:ln/>
        </p:spPr>
      </p:sp>
      <p:sp>
        <p:nvSpPr>
          <p:cNvPr id="10" name="Text 7"/>
          <p:cNvSpPr/>
          <p:nvPr/>
        </p:nvSpPr>
        <p:spPr>
          <a:xfrm>
            <a:off x="2359152" y="3447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#A47CFF  ·  32px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2514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/sessions/stoic-friendly-ptolemy/mnt/outputs/png/cl_tier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6008" y="2807208"/>
            <a:ext cx="960120" cy="9601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Scaglione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6072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5 impianti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760720" y="3502152"/>
            <a:ext cx="146304" cy="146304"/>
          </a:xfrm>
          <a:prstGeom prst="ellipse">
            <a:avLst/>
          </a:prstGeom>
          <a:solidFill>
            <a:srgbClr val="976AFF"/>
          </a:solidFill>
          <a:ln/>
        </p:spPr>
      </p:sp>
      <p:sp>
        <p:nvSpPr>
          <p:cNvPr id="16" name="Text 12"/>
          <p:cNvSpPr/>
          <p:nvPr/>
        </p:nvSpPr>
        <p:spPr>
          <a:xfrm>
            <a:off x="5971032" y="3447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#976AFF  ·  32px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46720" y="2514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/sessions/stoic-friendly-ptolemy/mnt/outputs/png/cl_tier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2807208"/>
            <a:ext cx="960120" cy="9601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72600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Scaglione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37260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– 10 impianti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9372600" y="3502152"/>
            <a:ext cx="146304" cy="146304"/>
          </a:xfrm>
          <a:prstGeom prst="ellipse">
            <a:avLst/>
          </a:prstGeom>
          <a:solidFill>
            <a:srgbClr val="8A52FF"/>
          </a:solidFill>
          <a:ln/>
        </p:spPr>
      </p:sp>
      <p:sp>
        <p:nvSpPr>
          <p:cNvPr id="22" name="Text 17"/>
          <p:cNvSpPr/>
          <p:nvPr/>
        </p:nvSpPr>
        <p:spPr>
          <a:xfrm>
            <a:off x="9582912" y="3447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#8A52FF  ·  36px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2960" y="42976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/sessions/stoic-friendly-ptolemy/mnt/outputs/png/cl_tier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4128" y="4590288"/>
            <a:ext cx="960120" cy="9601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14884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Scaglione 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148840" y="4828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– 20 impianti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2148840" y="5285232"/>
            <a:ext cx="146304" cy="146304"/>
          </a:xfrm>
          <a:prstGeom prst="ellipse">
            <a:avLst/>
          </a:prstGeom>
          <a:solidFill>
            <a:srgbClr val="7838FB"/>
          </a:solidFill>
          <a:ln/>
        </p:spPr>
      </p:sp>
      <p:sp>
        <p:nvSpPr>
          <p:cNvPr id="28" name="Text 22"/>
          <p:cNvSpPr/>
          <p:nvPr/>
        </p:nvSpPr>
        <p:spPr>
          <a:xfrm>
            <a:off x="2359152" y="5230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#7838FB  ·  36px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434840" y="42976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30" name="Image 4" descr="/sessions/stoic-friendly-ptolemy/mnt/outputs/png/cl_tier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36008" y="4590288"/>
            <a:ext cx="960120" cy="9601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76072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Scaglione 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760720" y="4828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– 50 impianti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5760720" y="5285232"/>
            <a:ext cx="146304" cy="146304"/>
          </a:xfrm>
          <a:prstGeom prst="ellipse">
            <a:avLst/>
          </a:prstGeom>
          <a:solidFill>
            <a:srgbClr val="3E00FB"/>
          </a:solidFill>
          <a:ln/>
        </p:spPr>
      </p:sp>
      <p:sp>
        <p:nvSpPr>
          <p:cNvPr id="34" name="Text 27"/>
          <p:cNvSpPr/>
          <p:nvPr/>
        </p:nvSpPr>
        <p:spPr>
          <a:xfrm>
            <a:off x="5971032" y="5230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#3E00FB  ·  40px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46720" y="42976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36" name="Image 5" descr="/sessions/stoic-friendly-ptolemy/mnt/outputs/png/cl_tier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47888" y="4590288"/>
            <a:ext cx="960120" cy="9601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37260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Scaglione 6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9372600" y="4828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50 impianti</a:t>
            </a:r>
            <a:endParaRPr lang="en-US" sz="1800" dirty="0"/>
          </a:p>
        </p:txBody>
      </p:sp>
      <p:sp>
        <p:nvSpPr>
          <p:cNvPr id="39" name="Shape 31"/>
          <p:cNvSpPr/>
          <p:nvPr/>
        </p:nvSpPr>
        <p:spPr>
          <a:xfrm>
            <a:off x="9372600" y="5285232"/>
            <a:ext cx="146304" cy="146304"/>
          </a:xfrm>
          <a:prstGeom prst="ellipse">
            <a:avLst/>
          </a:prstGeom>
          <a:solidFill>
            <a:srgbClr val="2900A0"/>
          </a:solidFill>
          <a:ln/>
        </p:spPr>
      </p:sp>
      <p:sp>
        <p:nvSpPr>
          <p:cNvPr id="40" name="Text 32"/>
          <p:cNvSpPr/>
          <p:nvPr/>
        </p:nvSpPr>
        <p:spPr>
          <a:xfrm>
            <a:off x="9582912" y="5230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#2900A0  ·  40px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&amp; AGGREGAZIONE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cluster a marker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 di aggregazione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441448"/>
            <a:ext cx="310896" cy="310896"/>
          </a:xfrm>
          <a:prstGeom prst="ellipse">
            <a:avLst/>
          </a:prstGeom>
          <a:solidFill>
            <a:srgbClr val="3E00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Decluster a zoom &gt; 15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7157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Oltre questa soglia i cluster si sciolgono e si mostrano tutti i marker individuali.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493008"/>
            <a:ext cx="310896" cy="310896"/>
          </a:xfrm>
          <a:prstGeom prst="ellipse">
            <a:avLst/>
          </a:prstGeom>
          <a:solidFill>
            <a:srgbClr val="3E00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= zoom-to-bounds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7673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Cliccando un cluster la mappa si adatta esattamente sugli impianti contenuti (non uno zoom fisso).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544568"/>
            <a:ext cx="310896" cy="310896"/>
          </a:xfrm>
          <a:prstGeom prst="ellipse">
            <a:avLst/>
          </a:prstGeom>
          <a:solidFill>
            <a:srgbClr val="3E00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Baricentro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188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cluster e posizionato sulla media delle coordinate degli impianti che contiene.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Dimensione marker per zoom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240280"/>
          <a:ext cx="48463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Livello di zoom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0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Marker (px)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00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× 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× 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× 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× 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× 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00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× 48  · individuali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583680" y="5806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marker base scala con lo zoom; gli stati di interazione applicano un moltiplicatore su questa dimensione.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del marker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4000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stoic-friendly-ptolemy/mnt/outputs/png/bh_defa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368" y="1920240"/>
            <a:ext cx="786384" cy="1207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3728" y="327355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8592" y="37033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Icona base, scala con lo zoom.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9144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/sessions/stoic-friendly-ptolemy/mnt/outputs/png/bh_defaul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07512" y="1920240"/>
            <a:ext cx="786384" cy="12070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58872" y="327355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913736" y="37033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ingrandimento ×1.12. Nessuna card.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44288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28920" y="2148840"/>
            <a:ext cx="1133856" cy="1133856"/>
          </a:xfrm>
          <a:prstGeom prst="ellipse">
            <a:avLst/>
          </a:prstGeom>
          <a:solidFill>
            <a:srgbClr val="3E00FB">
              <a:alpha val="40000"/>
            </a:srgbClr>
          </a:solidFill>
          <a:ln/>
          <a:effectLst>
            <a:outerShdw sx="100000" sy="100000" kx="0" ky="0" algn="bl" rotWithShape="0" blurRad="228600" dist="50800" dir="5400000">
              <a:srgbClr val="3E00FB">
                <a:alpha val="60000"/>
              </a:srgbClr>
            </a:outerShdw>
          </a:effectLst>
        </p:spPr>
      </p:sp>
      <p:pic>
        <p:nvPicPr>
          <p:cNvPr id="14" name="Image 2" descr="/sessions/stoic-friendly-ptolemy/mnt/outputs/png/bh_defaul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02656" y="1920240"/>
            <a:ext cx="786384" cy="12070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4016" y="327355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· click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208880" y="37033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×1.4 + ombra viola: si apre la card e gli altri marker si attenuano.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39432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/sessions/stoic-friendly-ptolemy/mnt/outputs/png/bh_select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97800" y="1920240"/>
            <a:ext cx="786384" cy="12070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49160" y="327355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504024" y="37033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attivo: badge di spunta viola (solo Planning).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634576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6F7F9"/>
          </a:solidFill>
          <a:ln w="12700">
            <a:solidFill>
              <a:srgbClr val="E6E8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/sessions/stoic-friendly-ptolemy/mnt/outputs/png/bh_dimm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292944" y="1920240"/>
            <a:ext cx="786384" cy="12070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44304" y="327355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Dimmed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799168" y="37033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Opacita 0.2: c'e un marker in focus altrove.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Cluster: </a:t>
            </a:r>
            <a:pPr algn="ctr" indent="0" marL="0">
              <a:buNone/>
            </a:pPr>
            <a:r>
              <a:rPr lang="en-US" sz="1300" b="1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leggero ingrandimento + tooltip conteggio  ·  </a:t>
            </a:r>
            <a:pPr algn="ctr" indent="0" marL="0">
              <a:buNone/>
            </a:pPr>
            <a:r>
              <a:rPr lang="en-US" sz="1300" b="1" dirty="0">
                <a:solidFill>
                  <a:srgbClr val="3E0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selezionati 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(solo Planning, no MVP) = anello viola + label "selezionati / totale".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toic-friendly-ptolemy/mnt/outputs/png/hero_billboar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rcRect l="0" r="0" t="0" b="0"/>
          <a:stretch/>
        </p:blipFill>
        <p:spPr>
          <a:xfrm>
            <a:off x="9144000" y="914400"/>
            <a:ext cx="2926080" cy="4389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 ·  DESIGN SYSTEM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2606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marker pronto all'uso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3794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marker organizzati per tipologia e status, allineati tra OOH e DOOH.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ATTRACT, REACH, CONNECT PEOPLE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Marker</dc:title>
  <dc:subject>PptxGenJS Presentation</dc:subject>
  <dc:creator>Gravity</dc:creator>
  <cp:lastModifiedBy>Gravity</cp:lastModifiedBy>
  <cp:revision>1</cp:revision>
  <dcterms:created xsi:type="dcterms:W3CDTF">2026-06-24T15:49:27Z</dcterms:created>
  <dcterms:modified xsi:type="dcterms:W3CDTF">2026-06-24T15:49:27Z</dcterms:modified>
</cp:coreProperties>
</file>